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21040" y="0"/>
            <a:ext cx="3870655" cy="6858000"/>
          </a:xfrm>
          <a:prstGeom prst="rect">
            <a:avLst/>
          </a:prstGeom>
          <a:solidFill>
            <a:srgbClr val="E65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69680" y="640080"/>
            <a:ext cx="2560320" cy="2560320"/>
          </a:xfrm>
          <a:prstGeom prst="rect">
            <a:avLst/>
          </a:prstGeom>
          <a:solidFill>
            <a:srgbClr val="F2C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45168" y="1115568"/>
            <a:ext cx="1609344" cy="1609344"/>
          </a:xfrm>
          <a:prstGeom prst="rect">
            <a:avLst/>
          </a:prstGeom>
          <a:solidFill>
            <a:srgbClr val="19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686800" y="3749039"/>
            <a:ext cx="2743200" cy="1005841"/>
          </a:xfrm>
          <a:prstGeom prst="line">
            <a:avLst/>
          </a:prstGeom>
          <a:ln w="15240">
            <a:solidFill>
              <a:srgbClr val="F6F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098280" y="3749039"/>
            <a:ext cx="2331720" cy="1225297"/>
          </a:xfrm>
          <a:prstGeom prst="line">
            <a:avLst/>
          </a:prstGeom>
          <a:ln w="15240">
            <a:solidFill>
              <a:srgbClr val="F6F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509760" y="3749039"/>
            <a:ext cx="1920240" cy="1444753"/>
          </a:xfrm>
          <a:prstGeom prst="line">
            <a:avLst/>
          </a:prstGeom>
          <a:ln w="15240">
            <a:solidFill>
              <a:srgbClr val="F6F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921240" y="3749039"/>
            <a:ext cx="1508760" cy="1664209"/>
          </a:xfrm>
          <a:prstGeom prst="line">
            <a:avLst/>
          </a:prstGeom>
          <a:ln w="15240">
            <a:solidFill>
              <a:srgbClr val="F6F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332720" y="3749039"/>
            <a:ext cx="1097280" cy="1883665"/>
          </a:xfrm>
          <a:prstGeom prst="line">
            <a:avLst/>
          </a:prstGeom>
          <a:ln w="15240">
            <a:solidFill>
              <a:srgbClr val="F6F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566928"/>
            <a:ext cx="64008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1" i="0">
                <a:solidFill>
                  <a:srgbClr val="BCDAC9"/>
                </a:solidFill>
                <a:latin typeface="Aptos"/>
              </a:rPr>
              <a:t>PEOPLE ANALYTICS  /  DECISION 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371600"/>
            <a:ext cx="7315200" cy="1508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3300" b="1" i="0">
                <a:solidFill>
                  <a:srgbClr val="FFFFFC"/>
                </a:solidFill>
                <a:latin typeface="Aptos Display"/>
              </a:rPr>
              <a:t>Why are people leaving—and where should HR act first?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154680"/>
            <a:ext cx="694944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600" b="0" i="0">
                <a:solidFill>
                  <a:srgbClr val="F6F3EB"/>
                </a:solidFill>
                <a:latin typeface="Aptos"/>
              </a:rPr>
              <a:t>An evidence-led investigation of attrition patterns, operational pressure and employee experience.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4" y="4983480"/>
            <a:ext cx="6483096" cy="0"/>
          </a:xfrm>
          <a:prstGeom prst="line">
            <a:avLst/>
          </a:prstGeom>
          <a:ln w="12700">
            <a:solidFill>
              <a:srgbClr val="505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94944" y="5257800"/>
            <a:ext cx="6126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1" i="0">
                <a:solidFill>
                  <a:srgbClr val="BCDAC9"/>
                </a:solidFill>
                <a:latin typeface="Aptos"/>
              </a:rPr>
              <a:t>1,470 EMPLOYEES  •  237 RECORDED EXITS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5715000"/>
            <a:ext cx="68580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1" i="0">
                <a:solidFill>
                  <a:srgbClr val="FFFFFC"/>
                </a:solidFill>
                <a:latin typeface="Aptos"/>
              </a:rPr>
              <a:t>PYTHON / PANDAS    MYSQL    POWER BI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5961888"/>
            <a:ext cx="23774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 i="0">
                <a:solidFill>
                  <a:srgbClr val="19222E"/>
                </a:solidFill>
                <a:latin typeface="Aptos"/>
              </a:rPr>
              <a:t>EVIDENCE → 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37744"/>
            <a:ext cx="7315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00" b="1" i="0">
                <a:solidFill>
                  <a:srgbClr val="676F75"/>
                </a:solidFill>
                <a:latin typeface="Aptos"/>
              </a:rPr>
              <a:t>WORKFORCE INTELLIGENCE  /  01 /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3774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1000" b="1" i="0">
                <a:solidFill>
                  <a:srgbClr val="E65B36"/>
                </a:solidFill>
                <a:latin typeface="Aptos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566928"/>
            <a:ext cx="11128248" cy="0"/>
          </a:xfrm>
          <a:prstGeom prst="line">
            <a:avLst/>
          </a:prstGeom>
          <a:ln w="10160">
            <a:solidFill>
              <a:srgbClr val="D7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786384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700" b="1" i="0">
                <a:solidFill>
                  <a:srgbClr val="19222E"/>
                </a:solidFill>
                <a:latin typeface="Aptos Display"/>
              </a:rPr>
              <a:t>Attrition is a business signal—not just an HR KPI.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89888"/>
            <a:ext cx="10789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 i="0">
                <a:solidFill>
                  <a:srgbClr val="676F75"/>
                </a:solidFill>
                <a:latin typeface="Aptos"/>
              </a:rPr>
              <a:t>First quantify the scale of exits, then identify where a targeted response may matter most.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09728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800" b="0" i="0">
                <a:solidFill>
                  <a:srgbClr val="676F75"/>
                </a:solidFill>
                <a:latin typeface="Aptos"/>
              </a:rPr>
              <a:t>IBM HR Analytics sample • Descriptive patterns do not establish causation</a:t>
            </a:r>
          </a:p>
        </p:txBody>
      </p:sp>
      <p:pic>
        <p:nvPicPr>
          <p:cNvPr id="9" name="Picture 8" descr="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0"/>
            <a:ext cx="5577840" cy="35661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72200" y="2057400"/>
            <a:ext cx="4983480" cy="960120"/>
          </a:xfrm>
          <a:prstGeom prst="roundRect">
            <a:avLst/>
          </a:prstGeom>
          <a:solidFill>
            <a:srgbClr val="FFFFFC"/>
          </a:solidFill>
          <a:ln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2057400"/>
            <a:ext cx="91440" cy="960120"/>
          </a:xfrm>
          <a:prstGeom prst="rect">
            <a:avLst/>
          </a:prstGeom>
          <a:solidFill>
            <a:srgbClr val="3A6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2167128"/>
            <a:ext cx="4599432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1" i="0">
                <a:solidFill>
                  <a:srgbClr val="3A65AD"/>
                </a:solidFill>
                <a:latin typeface="Aptos"/>
              </a:rPr>
              <a:t>THE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450592"/>
            <a:ext cx="4599432" cy="5212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 i="0">
                <a:solidFill>
                  <a:srgbClr val="19222E"/>
                </a:solidFill>
                <a:latin typeface="Aptos"/>
              </a:rPr>
              <a:t>Which employee segments should HR investigate first?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246120"/>
            <a:ext cx="4983480" cy="960120"/>
          </a:xfrm>
          <a:prstGeom prst="roundRect">
            <a:avLst/>
          </a:prstGeom>
          <a:solidFill>
            <a:srgbClr val="FFFFFC"/>
          </a:solidFill>
          <a:ln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246120"/>
            <a:ext cx="91440" cy="960120"/>
          </a:xfrm>
          <a:prstGeom prst="rect">
            <a:avLst/>
          </a:prstGeom>
          <a:solidFill>
            <a:srgbClr val="E65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3355848"/>
            <a:ext cx="4599432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1" i="0">
                <a:solidFill>
                  <a:srgbClr val="E65B36"/>
                </a:solidFill>
                <a:latin typeface="Aptos"/>
              </a:rPr>
              <a:t>THE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3639312"/>
            <a:ext cx="4599432" cy="5212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 i="0">
                <a:solidFill>
                  <a:srgbClr val="19222E"/>
                </a:solidFill>
                <a:latin typeface="Aptos"/>
              </a:rPr>
              <a:t>237 of 1,470 employees left: a 16.12% attrition rate.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434840"/>
            <a:ext cx="4983480" cy="960120"/>
          </a:xfrm>
          <a:prstGeom prst="roundRect">
            <a:avLst/>
          </a:prstGeom>
          <a:solidFill>
            <a:srgbClr val="FFFFFC"/>
          </a:solidFill>
          <a:ln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4434840"/>
            <a:ext cx="91440" cy="960120"/>
          </a:xfrm>
          <a:prstGeom prst="rect">
            <a:avLst/>
          </a:prstGeom>
          <a:solidFill>
            <a:srgbClr val="358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4544568"/>
            <a:ext cx="4599432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1" i="0">
                <a:solidFill>
                  <a:srgbClr val="358766"/>
                </a:solidFill>
                <a:latin typeface="Aptos"/>
              </a:rPr>
              <a:t>THE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4828031"/>
            <a:ext cx="4599432" cy="5212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 i="0">
                <a:solidFill>
                  <a:srgbClr val="19222E"/>
                </a:solidFill>
                <a:latin typeface="Aptos"/>
              </a:rPr>
              <a:t>Prioritise by both attrition rate and number of exits.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15000"/>
            <a:ext cx="10515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 i="0">
                <a:solidFill>
                  <a:srgbClr val="676F75"/>
                </a:solidFill>
                <a:latin typeface="Aptos"/>
              </a:rPr>
              <a:t>Active employees: 1,233 • Attrition rate = recorded exits ÷ total employees.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37744"/>
            <a:ext cx="7315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00" b="1" i="0">
                <a:solidFill>
                  <a:srgbClr val="676F75"/>
                </a:solidFill>
                <a:latin typeface="Aptos"/>
              </a:rPr>
              <a:t>WORKFORCE INTELLIGENCE  /  02 / TRUST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3774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1000" b="1" i="0">
                <a:solidFill>
                  <a:srgbClr val="E65B36"/>
                </a:solidFill>
                <a:latin typeface="Aptos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566928"/>
            <a:ext cx="11128248" cy="0"/>
          </a:xfrm>
          <a:prstGeom prst="line">
            <a:avLst/>
          </a:prstGeom>
          <a:ln w="10160">
            <a:solidFill>
              <a:srgbClr val="D7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786384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700" b="1" i="0">
                <a:solidFill>
                  <a:srgbClr val="19222E"/>
                </a:solidFill>
                <a:latin typeface="Aptos Display"/>
              </a:rPr>
              <a:t>The analysis starts with a defensible data foundation.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89888"/>
            <a:ext cx="10789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 i="0">
                <a:solidFill>
                  <a:srgbClr val="676F75"/>
                </a:solidFill>
                <a:latin typeface="Aptos"/>
              </a:rPr>
              <a:t>Before reading patterns, remove fields that add no analytical value and validate key records.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09728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800" b="0" i="0">
                <a:solidFill>
                  <a:srgbClr val="676F75"/>
                </a:solidFill>
                <a:latin typeface="Aptos"/>
              </a:rPr>
              <a:t>IBM HR Analytics sample • Descriptive patterns do not establish causation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331720"/>
            <a:ext cx="2423160" cy="1371600"/>
          </a:xfrm>
          <a:prstGeom prst="roundRect">
            <a:avLst/>
          </a:prstGeom>
          <a:solidFill>
            <a:srgbClr val="FFFFFC"/>
          </a:solidFill>
          <a:ln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514600"/>
            <a:ext cx="201168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3000" b="1" i="0">
                <a:solidFill>
                  <a:srgbClr val="3A65AD"/>
                </a:solidFill>
                <a:latin typeface="Aptos Display"/>
              </a:rP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127248"/>
            <a:ext cx="20116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1" i="0">
                <a:solidFill>
                  <a:srgbClr val="19222E"/>
                </a:solidFill>
                <a:latin typeface="Aptos"/>
              </a:rPr>
              <a:t>original fields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331720"/>
            <a:ext cx="2423160" cy="1371600"/>
          </a:xfrm>
          <a:prstGeom prst="roundRect">
            <a:avLst/>
          </a:prstGeom>
          <a:solidFill>
            <a:srgbClr val="FFFFFC"/>
          </a:solidFill>
          <a:ln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2514600"/>
            <a:ext cx="201168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3000" b="1" i="0">
                <a:solidFill>
                  <a:srgbClr val="E65B36"/>
                </a:solidFill>
                <a:latin typeface="Aptos Display"/>
              </a:rPr>
              <a:t>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3127248"/>
            <a:ext cx="20116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1" i="0">
                <a:solidFill>
                  <a:srgbClr val="19222E"/>
                </a:solidFill>
                <a:latin typeface="Aptos"/>
              </a:rPr>
              <a:t>retained fields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79" y="2331720"/>
            <a:ext cx="2423160" cy="1371600"/>
          </a:xfrm>
          <a:prstGeom prst="roundRect">
            <a:avLst/>
          </a:prstGeom>
          <a:solidFill>
            <a:srgbClr val="FFFFFC"/>
          </a:solidFill>
          <a:ln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2514600"/>
            <a:ext cx="201168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3000" b="1" i="0">
                <a:solidFill>
                  <a:srgbClr val="358766"/>
                </a:solidFill>
                <a:latin typeface="Aptos Display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7" y="3127248"/>
            <a:ext cx="20116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1" i="0">
                <a:solidFill>
                  <a:srgbClr val="19222E"/>
                </a:solidFill>
                <a:latin typeface="Aptos"/>
              </a:rPr>
              <a:t>missing values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3999" y="2331720"/>
            <a:ext cx="2423160" cy="1371600"/>
          </a:xfrm>
          <a:prstGeom prst="roundRect">
            <a:avLst/>
          </a:prstGeom>
          <a:solidFill>
            <a:srgbClr val="FFFFFC"/>
          </a:solidFill>
          <a:ln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79" y="2514600"/>
            <a:ext cx="201168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3000" b="1" i="0">
                <a:solidFill>
                  <a:srgbClr val="19222E"/>
                </a:solidFill>
                <a:latin typeface="Aptos Display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7" y="3127248"/>
            <a:ext cx="20116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1" i="0">
                <a:solidFill>
                  <a:srgbClr val="19222E"/>
                </a:solidFill>
                <a:latin typeface="Aptos"/>
              </a:rPr>
              <a:t>duplicate rows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251960"/>
            <a:ext cx="10332720" cy="960120"/>
          </a:xfrm>
          <a:prstGeom prst="roundRect">
            <a:avLst/>
          </a:prstGeom>
          <a:solidFill>
            <a:srgbClr val="E1E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462272"/>
            <a:ext cx="97840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 i="0">
                <a:solidFill>
                  <a:srgbClr val="19222E"/>
                </a:solidFill>
                <a:latin typeface="Aptos"/>
              </a:rPr>
              <a:t>Three constant fields removed: EmployeeCount, Over18 and StandardHours. EmployeeNumber is unique; business-rule checks passed.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623560"/>
            <a:ext cx="100584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 i="1">
                <a:solidFill>
                  <a:srgbClr val="676F75"/>
                </a:solidFill>
                <a:latin typeface="Aptos"/>
              </a:rPr>
              <a:t>Limit: this is a sample dataset, not a live HR system or a longitudinal employee history.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37744"/>
            <a:ext cx="7315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00" b="1" i="0">
                <a:solidFill>
                  <a:srgbClr val="676F75"/>
                </a:solidFill>
                <a:latin typeface="Aptos"/>
              </a:rPr>
              <a:t>WORKFORCE INTELLIGENCE  /  03 / THE STRONGEST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3774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1000" b="1" i="0">
                <a:solidFill>
                  <a:srgbClr val="E65B36"/>
                </a:solidFill>
                <a:latin typeface="Aptos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566928"/>
            <a:ext cx="11128248" cy="0"/>
          </a:xfrm>
          <a:prstGeom prst="line">
            <a:avLst/>
          </a:prstGeom>
          <a:ln w="10160">
            <a:solidFill>
              <a:srgbClr val="D7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786384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700" b="1" i="0">
                <a:solidFill>
                  <a:srgbClr val="19222E"/>
                </a:solidFill>
                <a:latin typeface="Aptos Display"/>
              </a:rPr>
              <a:t>Employees working overtime leave at a much higher 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89888"/>
            <a:ext cx="10789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 i="0">
                <a:solidFill>
                  <a:srgbClr val="676F75"/>
                </a:solidFill>
                <a:latin typeface="Aptos"/>
              </a:rPr>
              <a:t>The observed rate is almost three times the rate among employees not working overtime.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09728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800" b="0" i="0">
                <a:solidFill>
                  <a:srgbClr val="676F75"/>
                </a:solidFill>
                <a:latin typeface="Aptos"/>
              </a:rPr>
              <a:t>IBM HR Analytics sample • Descriptive patterns do not establish causation</a:t>
            </a:r>
          </a:p>
        </p:txBody>
      </p:sp>
      <p:pic>
        <p:nvPicPr>
          <p:cNvPr id="9" name="Picture 8" descr="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6400800" cy="3383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60920" y="2331720"/>
            <a:ext cx="3429000" cy="2011680"/>
          </a:xfrm>
          <a:prstGeom prst="roundRect">
            <a:avLst/>
          </a:prstGeom>
          <a:solidFill>
            <a:srgbClr val="19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2633472"/>
            <a:ext cx="283464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3700" b="1" i="0">
                <a:solidFill>
                  <a:srgbClr val="F2C24F"/>
                </a:solidFill>
                <a:latin typeface="Aptos Display"/>
              </a:rPr>
              <a:t>2.9×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3383280"/>
            <a:ext cx="27432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C"/>
                </a:solidFill>
                <a:latin typeface="Aptos"/>
              </a:rPr>
              <a:t>higher observed
attrition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440680"/>
            <a:ext cx="1024128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0" i="0">
                <a:solidFill>
                  <a:srgbClr val="676F75"/>
                </a:solidFill>
                <a:latin typeface="Aptos"/>
              </a:rPr>
              <a:t>Hypothesis to test: repeated overtime may indicate workload imbalance or insufficient coverage. This dataset cannot prove cause.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37744"/>
            <a:ext cx="7315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00" b="1" i="0">
                <a:solidFill>
                  <a:srgbClr val="676F75"/>
                </a:solidFill>
                <a:latin typeface="Aptos"/>
              </a:rPr>
              <a:t>WORKFORCE INTELLIGENCE  /  04 / LOCATE THE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3774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1000" b="1" i="0">
                <a:solidFill>
                  <a:srgbClr val="E65B36"/>
                </a:solidFill>
                <a:latin typeface="Aptos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566928"/>
            <a:ext cx="11128248" cy="0"/>
          </a:xfrm>
          <a:prstGeom prst="line">
            <a:avLst/>
          </a:prstGeom>
          <a:ln w="10160">
            <a:solidFill>
              <a:srgbClr val="D7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786384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700" b="1" i="0">
                <a:solidFill>
                  <a:srgbClr val="19222E"/>
                </a:solidFill>
                <a:latin typeface="Aptos Display"/>
              </a:rPr>
              <a:t>Sales Representatives are the highest-rate hotspot.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89888"/>
            <a:ext cx="10789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 i="0">
                <a:solidFill>
                  <a:srgbClr val="676F75"/>
                </a:solidFill>
                <a:latin typeface="Aptos"/>
              </a:rPr>
              <a:t>Rate identifies concentrated risk—but it should not be confused with total exit volume.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09728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800" b="0" i="0">
                <a:solidFill>
                  <a:srgbClr val="676F75"/>
                </a:solidFill>
                <a:latin typeface="Aptos"/>
              </a:rPr>
              <a:t>IBM HR Analytics sample • Descriptive patterns do not establish causation</a:t>
            </a:r>
          </a:p>
        </p:txBody>
      </p:sp>
      <p:pic>
        <p:nvPicPr>
          <p:cNvPr id="9" name="Picture 8" descr="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7406640" cy="42519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01000" y="2148840"/>
            <a:ext cx="3291840" cy="1051560"/>
          </a:xfrm>
          <a:prstGeom prst="roundRect">
            <a:avLst/>
          </a:prstGeom>
          <a:solidFill>
            <a:srgbClr val="FFFFFC"/>
          </a:solidFill>
          <a:ln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2148840"/>
            <a:ext cx="91440" cy="1051560"/>
          </a:xfrm>
          <a:prstGeom prst="rect">
            <a:avLst/>
          </a:prstGeom>
          <a:solidFill>
            <a:srgbClr val="E65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2258568"/>
            <a:ext cx="2907792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1" i="0">
                <a:solidFill>
                  <a:srgbClr val="E65B36"/>
                </a:solidFill>
                <a:latin typeface="Aptos"/>
              </a:rPr>
              <a:t>39.76%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2542032"/>
            <a:ext cx="2907792" cy="61264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 i="0">
                <a:solidFill>
                  <a:srgbClr val="19222E"/>
                </a:solidFill>
                <a:latin typeface="Aptos"/>
              </a:rPr>
              <a:t>Sales Representative attrition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3520440"/>
            <a:ext cx="3291840" cy="1051560"/>
          </a:xfrm>
          <a:prstGeom prst="roundRect">
            <a:avLst/>
          </a:prstGeom>
          <a:solidFill>
            <a:srgbClr val="FFFFFC"/>
          </a:solidFill>
          <a:ln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3520440"/>
            <a:ext cx="91440" cy="1051560"/>
          </a:xfrm>
          <a:prstGeom prst="rect">
            <a:avLst/>
          </a:prstGeom>
          <a:solidFill>
            <a:srgbClr val="3A6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3630168"/>
            <a:ext cx="2907792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1" i="0">
                <a:solidFill>
                  <a:srgbClr val="3A65AD"/>
                </a:solidFill>
                <a:latin typeface="Aptos"/>
              </a:rPr>
              <a:t>23.94%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3913632"/>
            <a:ext cx="2907792" cy="61264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 i="0">
                <a:solidFill>
                  <a:srgbClr val="19222E"/>
                </a:solidFill>
                <a:latin typeface="Aptos"/>
              </a:rPr>
              <a:t>Laboratory Technician attrition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983480"/>
            <a:ext cx="3063240" cy="7772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0" i="0">
                <a:solidFill>
                  <a:srgbClr val="19222E"/>
                </a:solidFill>
                <a:latin typeface="Aptos"/>
              </a:rPr>
              <a:t>Next: compare manager, tenure, workload, travel and exit reasons in these roles.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37744"/>
            <a:ext cx="7315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00" b="1" i="0">
                <a:solidFill>
                  <a:srgbClr val="676F75"/>
                </a:solidFill>
                <a:latin typeface="Aptos"/>
              </a:rPr>
              <a:t>WORKFORCE INTELLIGENCE  /  05 / WHERE EXITS ACCUMULATE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3774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1000" b="1" i="0">
                <a:solidFill>
                  <a:srgbClr val="E65B36"/>
                </a:solidFill>
                <a:latin typeface="Aptos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566928"/>
            <a:ext cx="11128248" cy="0"/>
          </a:xfrm>
          <a:prstGeom prst="line">
            <a:avLst/>
          </a:prstGeom>
          <a:ln w="10160">
            <a:solidFill>
              <a:srgbClr val="D7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786384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700" b="1" i="0">
                <a:solidFill>
                  <a:srgbClr val="19222E"/>
                </a:solidFill>
                <a:latin typeface="Aptos Display"/>
              </a:rPr>
              <a:t>Four roles contribute the most recorded exits.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89888"/>
            <a:ext cx="10789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 i="0">
                <a:solidFill>
                  <a:srgbClr val="676F75"/>
                </a:solidFill>
                <a:latin typeface="Aptos"/>
              </a:rPr>
              <a:t>This answers a different question: where could retention work reach more people?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09728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800" b="0" i="0">
                <a:solidFill>
                  <a:srgbClr val="676F75"/>
                </a:solidFill>
                <a:latin typeface="Aptos"/>
              </a:rPr>
              <a:t>IBM HR Analytics sample • Descriptive patterns do not establish causation</a:t>
            </a:r>
          </a:p>
        </p:txBody>
      </p:sp>
      <p:pic>
        <p:nvPicPr>
          <p:cNvPr id="9" name="Picture 8" descr="ex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0"/>
            <a:ext cx="7132320" cy="41148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01000" y="2331720"/>
            <a:ext cx="3200400" cy="1188720"/>
          </a:xfrm>
          <a:prstGeom prst="roundRect">
            <a:avLst/>
          </a:prstGeom>
          <a:solidFill>
            <a:srgbClr val="E1E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514600"/>
            <a:ext cx="274320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700" b="1" i="0">
                <a:solidFill>
                  <a:srgbClr val="3A65AD"/>
                </a:solidFill>
                <a:latin typeface="Aptos Display"/>
              </a:rPr>
              <a:t>199 exits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017520"/>
            <a:ext cx="2743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1" i="0">
                <a:solidFill>
                  <a:srgbClr val="19222E"/>
                </a:solidFill>
                <a:latin typeface="Aptos"/>
              </a:rPr>
              <a:t>across these four roles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886200"/>
            <a:ext cx="283464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 i="0">
                <a:solidFill>
                  <a:srgbClr val="19222E"/>
                </a:solidFill>
                <a:latin typeface="Aptos"/>
              </a:rPr>
              <a:t>Laboratory Technician: 62
Sales Executive: 57
Research Scientist: 47
Sales Representative: 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5166360"/>
            <a:ext cx="283464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1" i="0">
                <a:solidFill>
                  <a:srgbClr val="E65B36"/>
                </a:solidFill>
                <a:latin typeface="Aptos"/>
              </a:rPr>
              <a:t>Prioritise rate and volume together.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37744"/>
            <a:ext cx="7315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00" b="1" i="0">
                <a:solidFill>
                  <a:srgbClr val="676F75"/>
                </a:solidFill>
                <a:latin typeface="Aptos"/>
              </a:rPr>
              <a:t>WORKFORCE INTELLIGENCE  /  06 / ADD BUSINESS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3774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1000" b="1" i="0">
                <a:solidFill>
                  <a:srgbClr val="E65B36"/>
                </a:solidFill>
                <a:latin typeface="Aptos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566928"/>
            <a:ext cx="11128248" cy="0"/>
          </a:xfrm>
          <a:prstGeom prst="line">
            <a:avLst/>
          </a:prstGeom>
          <a:ln w="10160">
            <a:solidFill>
              <a:srgbClr val="D7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786384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700" b="1" i="0">
                <a:solidFill>
                  <a:srgbClr val="19222E"/>
                </a:solidFill>
                <a:latin typeface="Aptos Display"/>
              </a:rPr>
              <a:t>The overtime signal appears across all three departments.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89888"/>
            <a:ext cx="10789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 i="0">
                <a:solidFill>
                  <a:srgbClr val="676F75"/>
                </a:solidFill>
                <a:latin typeface="Aptos"/>
              </a:rPr>
              <a:t>Rates are elevated among overtime employees in Sales, HR and R&amp;D; team size matters.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09728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800" b="0" i="0">
                <a:solidFill>
                  <a:srgbClr val="676F75"/>
                </a:solidFill>
                <a:latin typeface="Aptos"/>
              </a:rPr>
              <a:t>IBM HR Analytics sample • Descriptive patterns do not establish causation</a:t>
            </a:r>
          </a:p>
        </p:txBody>
      </p:sp>
      <p:pic>
        <p:nvPicPr>
          <p:cNvPr id="9" name="Picture 8" descr="d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0"/>
            <a:ext cx="7406640" cy="40233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92440" y="2194560"/>
            <a:ext cx="3154680" cy="914400"/>
          </a:xfrm>
          <a:prstGeom prst="roundRect">
            <a:avLst/>
          </a:prstGeom>
          <a:solidFill>
            <a:srgbClr val="FFFFFC"/>
          </a:solidFill>
          <a:ln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92440" y="2194560"/>
            <a:ext cx="91440" cy="914400"/>
          </a:xfrm>
          <a:prstGeom prst="rect">
            <a:avLst/>
          </a:prstGeom>
          <a:solidFill>
            <a:srgbClr val="E65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2304288"/>
            <a:ext cx="2770632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1" i="0">
                <a:solidFill>
                  <a:srgbClr val="E65B36"/>
                </a:solidFill>
                <a:latin typeface="Aptos"/>
              </a:rPr>
              <a:t>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2587752"/>
            <a:ext cx="2770632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 i="0">
                <a:solidFill>
                  <a:srgbClr val="19222E"/>
                </a:solidFill>
                <a:latin typeface="Aptos"/>
              </a:rPr>
              <a:t>48 of 128 overtime employees left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337560"/>
            <a:ext cx="3154680" cy="914400"/>
          </a:xfrm>
          <a:prstGeom prst="roundRect">
            <a:avLst/>
          </a:prstGeom>
          <a:solidFill>
            <a:srgbClr val="FFFFFC"/>
          </a:solidFill>
          <a:ln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3337560"/>
            <a:ext cx="91440" cy="914400"/>
          </a:xfrm>
          <a:prstGeom prst="rect">
            <a:avLst/>
          </a:prstGeom>
          <a:solidFill>
            <a:srgbClr val="3A6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3447288"/>
            <a:ext cx="2770632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1" i="0">
                <a:solidFill>
                  <a:srgbClr val="3A65AD"/>
                </a:solidFill>
                <a:latin typeface="Aptos"/>
              </a:rPr>
              <a:t>HR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3730752"/>
            <a:ext cx="2770632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 i="0">
                <a:solidFill>
                  <a:srgbClr val="19222E"/>
                </a:solidFill>
                <a:latin typeface="Aptos"/>
              </a:rPr>
              <a:t>5 of 17 overtime employees left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4480560"/>
            <a:ext cx="3154680" cy="914400"/>
          </a:xfrm>
          <a:prstGeom prst="roundRect">
            <a:avLst/>
          </a:prstGeom>
          <a:solidFill>
            <a:srgbClr val="FFFFFC"/>
          </a:solidFill>
          <a:ln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4480560"/>
            <a:ext cx="91440" cy="914400"/>
          </a:xfrm>
          <a:prstGeom prst="rect">
            <a:avLst/>
          </a:prstGeom>
          <a:solidFill>
            <a:srgbClr val="358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4590288"/>
            <a:ext cx="2770632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1" i="0">
                <a:solidFill>
                  <a:srgbClr val="358766"/>
                </a:solidFill>
                <a:latin typeface="Aptos"/>
              </a:rPr>
              <a:t>R&amp;D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4873752"/>
            <a:ext cx="2770632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 i="0">
                <a:solidFill>
                  <a:srgbClr val="19222E"/>
                </a:solidFill>
                <a:latin typeface="Aptos"/>
              </a:rPr>
              <a:t>74 of 271 overtime employees left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97880"/>
            <a:ext cx="103327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0" i="1">
                <a:solidFill>
                  <a:srgbClr val="676F75"/>
                </a:solidFill>
                <a:latin typeface="Aptos"/>
              </a:rPr>
              <a:t>These are overtime-group rates, not full department attrition rates.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37744"/>
            <a:ext cx="7315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00" b="1" i="0">
                <a:solidFill>
                  <a:srgbClr val="676F75"/>
                </a:solidFill>
                <a:latin typeface="Aptos"/>
              </a:rPr>
              <a:t>WORKFORCE INTELLIGENCE  /  07 / CHECK THE OTHER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3774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1000" b="1" i="0">
                <a:solidFill>
                  <a:srgbClr val="E65B36"/>
                </a:solidFill>
                <a:latin typeface="Aptos"/>
              </a:rPr>
              <a:t>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566928"/>
            <a:ext cx="11128248" cy="0"/>
          </a:xfrm>
          <a:prstGeom prst="line">
            <a:avLst/>
          </a:prstGeom>
          <a:ln w="10160">
            <a:solidFill>
              <a:srgbClr val="D7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786384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700" b="1" i="0">
                <a:solidFill>
                  <a:srgbClr val="19222E"/>
                </a:solidFill>
                <a:latin typeface="Aptos Display"/>
              </a:rPr>
              <a:t>Income and job satisfaction add nuance to the story.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89888"/>
            <a:ext cx="10789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 i="0">
                <a:solidFill>
                  <a:srgbClr val="676F75"/>
                </a:solidFill>
                <a:latin typeface="Aptos"/>
              </a:rPr>
              <a:t>The gradients are informative, but the exceptions warn against simplistic explanations.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09728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800" b="0" i="0">
                <a:solidFill>
                  <a:srgbClr val="676F75"/>
                </a:solidFill>
                <a:latin typeface="Aptos"/>
              </a:rPr>
              <a:t>IBM HR Analytics sample • Descriptive patterns do not establish causation</a:t>
            </a:r>
          </a:p>
        </p:txBody>
      </p:sp>
      <p:pic>
        <p:nvPicPr>
          <p:cNvPr id="9" name="Picture 8" descr="in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0"/>
            <a:ext cx="5669280" cy="3840480"/>
          </a:xfrm>
          <a:prstGeom prst="rect">
            <a:avLst/>
          </a:prstGeom>
        </p:spPr>
      </p:pic>
      <p:pic>
        <p:nvPicPr>
          <p:cNvPr id="10" name="Picture 9" descr="s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828800"/>
            <a:ext cx="5623560" cy="3840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806440"/>
            <a:ext cx="104241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1" i="0">
                <a:solidFill>
                  <a:srgbClr val="19222E"/>
                </a:solidFill>
                <a:latin typeface="Aptos"/>
              </a:rPr>
              <a:t>Lowest income band: 28.61% • Satisfaction 1: 22.84% • Satisfaction 4: 11.33%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30352" y="566928"/>
            <a:ext cx="11128248" cy="0"/>
          </a:xfrm>
          <a:prstGeom prst="line">
            <a:avLst/>
          </a:prstGeom>
          <a:ln w="10160">
            <a:solidFill>
              <a:srgbClr val="D7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237744"/>
            <a:ext cx="7315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00" b="1" i="0">
                <a:solidFill>
                  <a:srgbClr val="676F75"/>
                </a:solidFill>
                <a:latin typeface="Aptos"/>
              </a:rPr>
              <a:t>WORKFORCE INTELLIGENCE  /  BUSINESS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3774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1" i="0">
                <a:solidFill>
                  <a:srgbClr val="E65B36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800" b="1" i="0">
                <a:solidFill>
                  <a:srgbClr val="19222E"/>
                </a:solidFill>
                <a:latin typeface="Aptos Display"/>
              </a:rPr>
              <a:t>What the evidence actually tells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89888"/>
            <a:ext cx="107899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0" i="0">
                <a:solidFill>
                  <a:srgbClr val="676F75"/>
                </a:solidFill>
                <a:latin typeface="Aptos"/>
              </a:rPr>
              <a:t>Four findings translate the charts into a business diagnosis.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38528"/>
            <a:ext cx="10789920" cy="822960"/>
          </a:xfrm>
          <a:prstGeom prst="roundRect">
            <a:avLst>
              <a:gd name="adj" fmla="val 8000"/>
            </a:avLst>
          </a:prstGeom>
          <a:solidFill>
            <a:srgbClr val="FFFFFC"/>
          </a:solidFill>
          <a:ln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93976"/>
            <a:ext cx="438912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1" i="0">
                <a:solidFill>
                  <a:srgbClr val="E65B36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029968"/>
            <a:ext cx="3246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1" i="0">
                <a:solidFill>
                  <a:srgbClr val="19222E"/>
                </a:solidFill>
                <a:latin typeface="Aptos"/>
              </a:rPr>
              <a:t>Overtime is the strongest 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029968"/>
            <a:ext cx="384048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0" i="0">
                <a:solidFill>
                  <a:srgbClr val="19222E"/>
                </a:solidFill>
                <a:latin typeface="Aptos"/>
              </a:rPr>
              <a:t>30.53% attrition with overtime vs 10.44% without (about 2.9×).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048256"/>
            <a:ext cx="242316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00" b="1" i="0">
                <a:solidFill>
                  <a:srgbClr val="E65B36"/>
                </a:solidFill>
                <a:latin typeface="Aptos"/>
              </a:rPr>
              <a:t>SO WHAT
Investigate workload, staffing cover and recovery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926080"/>
            <a:ext cx="10789920" cy="822960"/>
          </a:xfrm>
          <a:prstGeom prst="roundRect">
            <a:avLst>
              <a:gd name="adj" fmla="val 8000"/>
            </a:avLst>
          </a:prstGeom>
          <a:solidFill>
            <a:srgbClr val="FFFFFC"/>
          </a:solidFill>
          <a:ln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081528"/>
            <a:ext cx="438912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1" i="0">
                <a:solidFill>
                  <a:srgbClr val="3A65AD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017520"/>
            <a:ext cx="3246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1" i="0">
                <a:solidFill>
                  <a:srgbClr val="19222E"/>
                </a:solidFill>
                <a:latin typeface="Aptos"/>
              </a:rPr>
              <a:t>Risk and volume point to different priorities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017520"/>
            <a:ext cx="384048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0" i="0">
                <a:solidFill>
                  <a:srgbClr val="19222E"/>
                </a:solidFill>
                <a:latin typeface="Aptos"/>
              </a:rPr>
              <a:t>Sales Representatives have the highest role rate (39.76%); Lab Technicians contribute the most exits (62).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3035808"/>
            <a:ext cx="242316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00" b="1" i="0">
                <a:solidFill>
                  <a:srgbClr val="3A65AD"/>
                </a:solidFill>
                <a:latin typeface="Aptos"/>
              </a:rPr>
              <a:t>SO WHAT
Use role-specific retention diagnostics, not one company-wide intervention.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13632"/>
            <a:ext cx="10789920" cy="822960"/>
          </a:xfrm>
          <a:prstGeom prst="roundRect">
            <a:avLst>
              <a:gd name="adj" fmla="val 8000"/>
            </a:avLst>
          </a:prstGeom>
          <a:solidFill>
            <a:srgbClr val="FFFFFC"/>
          </a:solidFill>
          <a:ln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069080"/>
            <a:ext cx="438912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1" i="0">
                <a:solidFill>
                  <a:srgbClr val="358766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4005072"/>
            <a:ext cx="3246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1" i="0">
                <a:solidFill>
                  <a:srgbClr val="19222E"/>
                </a:solidFill>
                <a:latin typeface="Aptos"/>
              </a:rPr>
              <a:t>The overtime pattern spans departments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005072"/>
            <a:ext cx="384048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0" i="0">
                <a:solidFill>
                  <a:srgbClr val="19222E"/>
                </a:solidFill>
                <a:latin typeface="Aptos"/>
              </a:rPr>
              <a:t>Overtime-group attrition: Sales 37.50%, HR 29.41%, R&amp;D 27.31%. HR's rate represents 5 exits from 17 people.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4023360"/>
            <a:ext cx="242316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00" b="1" i="0">
                <a:solidFill>
                  <a:srgbClr val="358766"/>
                </a:solidFill>
                <a:latin typeface="Aptos"/>
              </a:rPr>
              <a:t>SO WHAT
Review rates alongside group sizes and role mix.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901184"/>
            <a:ext cx="10789920" cy="822960"/>
          </a:xfrm>
          <a:prstGeom prst="roundRect">
            <a:avLst>
              <a:gd name="adj" fmla="val 8000"/>
            </a:avLst>
          </a:prstGeom>
          <a:solidFill>
            <a:srgbClr val="FFFFFC"/>
          </a:solidFill>
          <a:ln>
            <a:solidFill>
              <a:srgbClr val="D7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056632"/>
            <a:ext cx="438912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1" i="0">
                <a:solidFill>
                  <a:srgbClr val="19222E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992624"/>
            <a:ext cx="32461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1" i="0">
                <a:solidFill>
                  <a:srgbClr val="19222E"/>
                </a:solidFill>
                <a:latin typeface="Aptos"/>
              </a:rPr>
              <a:t>Pay and satisfaction matter—but do not explain everything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992624"/>
            <a:ext cx="384048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0" i="0">
                <a:solidFill>
                  <a:srgbClr val="19222E"/>
                </a:solidFill>
                <a:latin typeface="Aptos"/>
              </a:rPr>
              <a:t>The under-3K band has 28.61% attrition; satisfaction level 1 has 22.84% vs 11.33% at level 4. The 8K–12K band is a notable exception.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5010912"/>
            <a:ext cx="242316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00" b="1" i="0">
                <a:solidFill>
                  <a:srgbClr val="19222E"/>
                </a:solidFill>
                <a:latin typeface="Aptos"/>
              </a:rPr>
              <a:t>SO WHAT
Treat these as investigation leads, not proof of cause.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109728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800" b="0" i="0">
                <a:solidFill>
                  <a:srgbClr val="676F75"/>
                </a:solidFill>
                <a:latin typeface="Aptos"/>
              </a:rPr>
              <a:t>IBM HR Analytics sample • Descriptive patterns do not establish causation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30352" y="566928"/>
            <a:ext cx="11128248" cy="0"/>
          </a:xfrm>
          <a:prstGeom prst="line">
            <a:avLst/>
          </a:prstGeom>
          <a:ln w="10160">
            <a:solidFill>
              <a:srgbClr val="4B56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237744"/>
            <a:ext cx="7315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00" b="1" i="0">
                <a:solidFill>
                  <a:srgbClr val="BEC6CD"/>
                </a:solidFill>
                <a:latin typeface="Aptos"/>
              </a:rPr>
              <a:t>WORKFORCE INTELLIGENCE  /  RECOMMENDATIONS &amp; 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3774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1" i="0">
                <a:solidFill>
                  <a:srgbClr val="E65B36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78992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600" b="1" i="0">
                <a:solidFill>
                  <a:srgbClr val="FFFFFC"/>
                </a:solidFill>
                <a:latin typeface="Aptos Display"/>
              </a:rPr>
              <a:t>What HR should do next—and how to know it worked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463040"/>
            <a:ext cx="102412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0" i="0">
                <a:solidFill>
                  <a:srgbClr val="BCDAC9"/>
                </a:solidFill>
                <a:latin typeface="Aptos"/>
              </a:rPr>
              <a:t>Start with low-regret diagnostics. Do not claim the intervention worked until outcomes are measured.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029968"/>
            <a:ext cx="192024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00" b="1" i="0">
                <a:solidFill>
                  <a:srgbClr val="BEC6CD"/>
                </a:solidFill>
                <a:latin typeface="Aptos"/>
              </a:rPr>
              <a:t>PRIORITY / 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2029968"/>
            <a:ext cx="40233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00" b="1" i="0">
                <a:solidFill>
                  <a:srgbClr val="BEC6CD"/>
                </a:solidFill>
                <a:latin typeface="Aptos"/>
              </a:rPr>
              <a:t>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2029968"/>
            <a:ext cx="41148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00" b="1" i="0">
                <a:solidFill>
                  <a:srgbClr val="BEC6CD"/>
                </a:solidFill>
                <a:latin typeface="Aptos"/>
              </a:rPr>
              <a:t>SUCCESS MEASURE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395728"/>
            <a:ext cx="10744200" cy="758952"/>
          </a:xfrm>
          <a:prstGeom prst="roundRect">
            <a:avLst>
              <a:gd name="adj" fmla="val 8000"/>
            </a:avLst>
          </a:prstGeom>
          <a:solidFill>
            <a:srgbClr val="26313F"/>
          </a:solidFill>
          <a:ln>
            <a:solidFill>
              <a:srgbClr val="465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523744"/>
            <a:ext cx="17373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1" i="0">
                <a:solidFill>
                  <a:srgbClr val="E65B36"/>
                </a:solidFill>
                <a:latin typeface="Aptos"/>
              </a:rPr>
              <a:t>1  Overtime review
HR +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487168"/>
            <a:ext cx="388620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0" i="0">
                <a:solidFill>
                  <a:srgbClr val="FFFFFC"/>
                </a:solidFill>
                <a:latin typeface="Aptos"/>
              </a:rPr>
              <a:t>Identify teams and roles with repeated overtime; review staffing, shift coverage and recovery 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487168"/>
            <a:ext cx="411480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0" i="0">
                <a:solidFill>
                  <a:srgbClr val="BCDAC9"/>
                </a:solidFill>
                <a:latin typeface="Aptos"/>
              </a:rPr>
              <a:t>Overtime exposure by team; attrition trend during pilot.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6112" y="3182112"/>
            <a:ext cx="10259568" cy="0"/>
          </a:xfrm>
          <a:prstGeom prst="line">
            <a:avLst/>
          </a:prstGeom>
          <a:ln w="6350">
            <a:solidFill>
              <a:srgbClr val="4653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3232" y="3355848"/>
            <a:ext cx="10744200" cy="758952"/>
          </a:xfrm>
          <a:prstGeom prst="roundRect">
            <a:avLst>
              <a:gd name="adj" fmla="val 8000"/>
            </a:avLst>
          </a:prstGeom>
          <a:solidFill>
            <a:srgbClr val="26313F"/>
          </a:solidFill>
          <a:ln>
            <a:solidFill>
              <a:srgbClr val="465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483864"/>
            <a:ext cx="17373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1" i="0">
                <a:solidFill>
                  <a:srgbClr val="3A65AD"/>
                </a:solidFill>
                <a:latin typeface="Aptos"/>
              </a:rPr>
              <a:t>2  Role diagnostics
HR Business Partners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447288"/>
            <a:ext cx="388620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0" i="0">
                <a:solidFill>
                  <a:srgbClr val="FFFFFC"/>
                </a:solidFill>
                <a:latin typeface="Aptos"/>
              </a:rPr>
              <a:t>Run structured stay/exit interviews for Sales Representatives and Laboratory Technicians; segment by tenure and manager.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447288"/>
            <a:ext cx="411480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0" i="0">
                <a:solidFill>
                  <a:srgbClr val="BCDAC9"/>
                </a:solidFill>
                <a:latin typeface="Aptos"/>
              </a:rPr>
              <a:t>Top exit themes documented; actions assigned to accountable owners.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6112" y="4142232"/>
            <a:ext cx="10259568" cy="0"/>
          </a:xfrm>
          <a:prstGeom prst="line">
            <a:avLst/>
          </a:prstGeom>
          <a:ln w="6350">
            <a:solidFill>
              <a:srgbClr val="4653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13232" y="4315968"/>
            <a:ext cx="10744200" cy="758952"/>
          </a:xfrm>
          <a:prstGeom prst="roundRect">
            <a:avLst>
              <a:gd name="adj" fmla="val 8000"/>
            </a:avLst>
          </a:prstGeom>
          <a:solidFill>
            <a:srgbClr val="26313F"/>
          </a:solidFill>
          <a:ln>
            <a:solidFill>
              <a:srgbClr val="465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443984"/>
            <a:ext cx="17373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1" i="0">
                <a:solidFill>
                  <a:srgbClr val="358766"/>
                </a:solidFill>
                <a:latin typeface="Aptos"/>
              </a:rPr>
              <a:t>3  Early-tenure support
Line managers +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4407408"/>
            <a:ext cx="388620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0" i="0">
                <a:solidFill>
                  <a:srgbClr val="FFFFFC"/>
                </a:solidFill>
                <a:latin typeface="Aptos"/>
              </a:rPr>
              <a:t>Review onboarding, role clarity and manager check-ins for employees in their first years.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407408"/>
            <a:ext cx="411480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0" i="0">
                <a:solidFill>
                  <a:srgbClr val="BCDAC9"/>
                </a:solidFill>
                <a:latin typeface="Aptos"/>
              </a:rPr>
              <a:t>Check-in completion; experience pulse; attrition by tenure band.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96112" y="5102352"/>
            <a:ext cx="10259568" cy="0"/>
          </a:xfrm>
          <a:prstGeom prst="line">
            <a:avLst/>
          </a:prstGeom>
          <a:ln w="6350">
            <a:solidFill>
              <a:srgbClr val="4653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77240" y="5440680"/>
            <a:ext cx="10561320" cy="640080"/>
          </a:xfrm>
          <a:prstGeom prst="roundRect">
            <a:avLst>
              <a:gd name="adj" fmla="val 8000"/>
            </a:avLst>
          </a:prstGeom>
          <a:solidFill>
            <a:srgbClr val="F2C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623560"/>
            <a:ext cx="10058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1" i="0">
                <a:solidFill>
                  <a:srgbClr val="19222E"/>
                </a:solidFill>
                <a:latin typeface="Aptos"/>
              </a:rPr>
              <a:t>DECISION REQUEST  Approve a focused retention diagnostic, then run a time-bound pilot with a baseline and review date.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6236208"/>
            <a:ext cx="105156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800" b="0" i="0">
                <a:solidFill>
                  <a:srgbClr val="BEC6CD"/>
                </a:solidFill>
                <a:latin typeface="Aptos"/>
              </a:rPr>
              <a:t>Caveat: this sample has no time series or verified exit-reason field; pilot impact must be measured with future HR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Workforce Intelligence — Graph-Led Story with Business Insights</dc:title>
  <dc:subject>Business insights, evidence-based recommendations and pilot measurement</dc:subject>
  <dc:creator>Workforce Intelligence Analytics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